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04" r:id="rId2"/>
    <p:sldId id="550" r:id="rId7"/>
    <p:sldId id="551" r:id="rId6"/>
    <p:sldId id="552" r:id="rId5"/>
    <p:sldId id="553" r:id="rId4"/>
    <p:sldId id="554" r:id="rId3"/>
    <p:sldId id="555" r:id="rId16"/>
    <p:sldId id="556" r:id="rId17"/>
    <p:sldId id="557" r:id="rId18"/>
    <p:sldId id="54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BA0976-3D2C-2439-DBD5-6BE3F1B1A143}" name="Alaro, Abenezer Tesfaye" initials="AA" userId="S::abenezer.alaro@thepalladiumgroup.com::f2183134-eeb4-4cb1-b6e3-457c83465e56" providerId="AD"/>
  <p188:author id="{A9603BA9-43D7-65EC-FAE6-50CA6BC557BB}" name="Saint Germain, Maya" initials="MS" userId="S::maya.saintgermain@thepalladiumgroup.com::c205b00c-3f95-4844-bcf9-f582c9a8c3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419"/>
    <a:srgbClr val="2E2C96"/>
    <a:srgbClr val="EA6A2A"/>
    <a:srgbClr val="FFFF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140" dt="2026-09-22T04:25:49.957"/>
    <p1510:client id="{2B984C4E-BE80-1B54-024F-1FAB971A0190}" v="29" dt="2026-09-22T09:35:16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0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88D6-C293-4168-9175-5AA8C2BE3206}" type="datetimeFigureOut"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B39F4-3526-48A7-87CE-3D68860FEC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70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EthioEMR platform: the team's EMR exactly as on GitHub main, with Form Studio, the AI assistant and the local speech service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B39F4-3526-48A7-87CE-3D68860FECE2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75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parts: the problem, what the platform is, the architecture, Form Studio, the AI assistant with speech,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problems: slow form building and checking, a lot of typing, Amharic dictation that general models cannot handle, and help that lives outside the EMR.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distro folder is byte for byte GitHub main at 9147129. Everything platform-specific lives in one compose overlay file, the gateway template and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Browser to gateway on port 18200. The gateway serves the merged importmap and routes from the overlay, the AI assistant config built from .env, passes /openmrs/spa to the team frontend and /openmrs to the backend, which uses MySQL and loads content at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steps: import, edit, rules, check, export. The start page lists 300 forms. Export writes content files; forms reach facilities only through the content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Help &amp; Search on the synthetic patient Almaz Bekele, question 'danger signs of severe malaria'. The answer cites the National Malaria Guidelines, 4th edition, page 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Mixed mode runs both engines on the same recording. mix.py merges them word by word without an LLM. Test audio was made with Microsoft Amharic neural voices; real recorded speech will score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and API contracts are in docs/ai-integration/form-studio-integration.md. None of the /v1/forms endpoints exist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C4ECD9-5950-288D-F0E8-15AB93A0C1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532546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60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1C55ED2-79AB-08DC-6DCF-C07F6CBD227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189" y="1217512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04" y="2385975"/>
            <a:ext cx="4325112" cy="24547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5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5577962" cy="480713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11808" y="1884121"/>
            <a:ext cx="3596952" cy="4151675"/>
          </a:xfrm>
        </p:spPr>
        <p:txBody>
          <a:bodyPr anchor="b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752392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848" y="80351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2150" y="799483"/>
            <a:ext cx="4429566" cy="365125"/>
          </a:xfrm>
        </p:spPr>
        <p:txBody>
          <a:bodyPr/>
          <a:lstStyle>
            <a:lvl1pPr algn="ctr">
              <a:defRPr/>
            </a:lvl1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9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01" y="1393200"/>
            <a:ext cx="11521785" cy="5106212"/>
          </a:xfrm>
        </p:spPr>
        <p:txBody>
          <a:bodyPr/>
          <a:lstStyle>
            <a:lvl1pPr marL="457209" indent="-457209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609639" indent="-342906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808134" indent="-266730">
              <a:buClr>
                <a:schemeClr val="accent3"/>
              </a:buClr>
              <a:buFont typeface="Arial" panose="020B0604020202020204" pitchFamily="34" charset="0"/>
              <a:buChar char="•"/>
              <a:defRPr/>
            </a:lvl3pPr>
            <a:lvl4pPr marL="1151041" indent="-342906">
              <a:buClr>
                <a:schemeClr val="accent4"/>
              </a:buClr>
              <a:buFont typeface="Arial" panose="020B0604020202020204" pitchFamily="34" charset="0"/>
              <a:buChar char="•"/>
              <a:defRPr/>
            </a:lvl4pPr>
            <a:lvl5pPr marL="1340010" indent="-265144">
              <a:buClr>
                <a:schemeClr val="accent5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34801" y="334803"/>
            <a:ext cx="11521785" cy="30439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Standard Slide - Click to change</a:t>
            </a:r>
            <a:endParaRPr lang="en-GB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1873" y="6654089"/>
            <a:ext cx="645169" cy="141167"/>
          </a:xfrm>
          <a:prstGeom prst="rect">
            <a:avLst/>
          </a:prstGeom>
        </p:spPr>
        <p:txBody>
          <a:bodyPr anchor="ctr"/>
          <a:lstStyle>
            <a:lvl1pPr algn="r">
              <a:defRPr sz="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- </a:t>
            </a:r>
            <a:fld id="{C05884CA-5403-4569-B873-2F7B596D59BB}" type="slidenum">
              <a:rPr lang="en-GB" smtClean="0"/>
              <a:pPr/>
              <a:t>‹#›</a:t>
            </a:fld>
            <a:r>
              <a:rPr lang="en-GB"/>
              <a:t> -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34801" y="681550"/>
            <a:ext cx="11521785" cy="4169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66732" indent="0">
              <a:buNone/>
              <a:defRPr/>
            </a:lvl2pPr>
            <a:lvl3pPr marL="541405" indent="0">
              <a:buNone/>
              <a:defRPr/>
            </a:lvl3pPr>
            <a:lvl4pPr marL="808135" indent="0">
              <a:buNone/>
              <a:defRPr/>
            </a:lvl4pPr>
            <a:lvl5pPr marL="1074865" indent="0">
              <a:buNone/>
              <a:defRPr/>
            </a:lvl5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9896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3392"/>
            <a:ext cx="10467653" cy="176953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74E4BF-A9CB-F772-DFA6-C511FFC554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4495800"/>
            <a:ext cx="12191999" cy="2362200"/>
          </a:xfrm>
          <a:blipFill dpi="0" rotWithShape="1">
            <a:blip r:embed="rId2">
              <a:alphaModFix amt="60000"/>
            </a:blip>
            <a:srcRect/>
            <a:stretch>
              <a:fillRect l="1" t="-200" r="-5" b="-3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10043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Option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2400" y="5544766"/>
            <a:ext cx="7776000" cy="525294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54" indent="0" algn="ctr">
              <a:buNone/>
              <a:defRPr sz="2000"/>
            </a:lvl2pPr>
            <a:lvl3pPr marL="914509" indent="0" algn="ctr">
              <a:buNone/>
              <a:defRPr sz="1802"/>
            </a:lvl3pPr>
            <a:lvl4pPr marL="1371764" indent="0" algn="ctr">
              <a:buNone/>
              <a:defRPr sz="1600"/>
            </a:lvl4pPr>
            <a:lvl5pPr marL="1829018" indent="0" algn="ctr">
              <a:buNone/>
              <a:defRPr sz="1600"/>
            </a:lvl5pPr>
            <a:lvl6pPr marL="2286273" indent="0" algn="ctr">
              <a:buNone/>
              <a:defRPr sz="1600"/>
            </a:lvl6pPr>
            <a:lvl7pPr marL="2743528" indent="0" algn="ctr">
              <a:buNone/>
              <a:defRPr sz="1600"/>
            </a:lvl7pPr>
            <a:lvl8pPr marL="3200781" indent="0" algn="ctr">
              <a:buNone/>
              <a:defRPr sz="1600"/>
            </a:lvl8pPr>
            <a:lvl9pPr marL="365803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2400" y="3044781"/>
            <a:ext cx="7776000" cy="2431913"/>
          </a:xfrm>
        </p:spPr>
        <p:txBody>
          <a:bodyPr anchor="b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62401" y="6492885"/>
            <a:ext cx="5064369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000"/>
              <a:t>© This material is the copyright of Palladium</a:t>
            </a:r>
            <a:endParaRPr lang="en-GB" sz="10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8399" y="338425"/>
            <a:ext cx="1440000" cy="57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757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4421221"/>
            <a:ext cx="10478450" cy="91440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335373"/>
            <a:ext cx="10478450" cy="7315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CC9A669-A9A2-C81A-7659-2BE084D43C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6B6C58C-A09F-CD8C-3AD4-3613FA8617A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7057" y="451993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65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 Small Circle Ima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5A4B937-EE4F-4195-AFE9-D63506659C2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62602" y="902208"/>
            <a:ext cx="3242501" cy="3242500"/>
          </a:xfrm>
          <a:custGeom>
            <a:avLst/>
            <a:gdLst>
              <a:gd name="connsiteX0" fmla="*/ 1621250 w 3242501"/>
              <a:gd name="connsiteY0" fmla="*/ 0 h 3242500"/>
              <a:gd name="connsiteX1" fmla="*/ 3242501 w 3242501"/>
              <a:gd name="connsiteY1" fmla="*/ 1621250 h 3242500"/>
              <a:gd name="connsiteX2" fmla="*/ 1621250 w 3242501"/>
              <a:gd name="connsiteY2" fmla="*/ 3242500 h 3242500"/>
              <a:gd name="connsiteX3" fmla="*/ 0 w 3242501"/>
              <a:gd name="connsiteY3" fmla="*/ 1621250 h 3242500"/>
              <a:gd name="connsiteX4" fmla="*/ 1621250 w 3242501"/>
              <a:gd name="connsiteY4" fmla="*/ 0 h 324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42501" h="3242500">
                <a:moveTo>
                  <a:pt x="1621250" y="0"/>
                </a:moveTo>
                <a:cubicBezTo>
                  <a:pt x="2516642" y="0"/>
                  <a:pt x="3242501" y="725858"/>
                  <a:pt x="3242501" y="1621250"/>
                </a:cubicBezTo>
                <a:cubicBezTo>
                  <a:pt x="3242501" y="2516642"/>
                  <a:pt x="2516643" y="3242500"/>
                  <a:pt x="1621250" y="3242500"/>
                </a:cubicBezTo>
                <a:cubicBezTo>
                  <a:pt x="725858" y="3242500"/>
                  <a:pt x="0" y="2516642"/>
                  <a:pt x="0" y="1621250"/>
                </a:cubicBezTo>
                <a:cubicBezTo>
                  <a:pt x="0" y="725858"/>
                  <a:pt x="725858" y="0"/>
                  <a:pt x="1621250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215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9743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ADC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745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>
                <a:solidFill>
                  <a:srgbClr val="69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ADHOPT PHASE 2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372600" y="657453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80">
                <a:solidFill>
                  <a:srgbClr val="69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PALLADIUM × AFRICA CDC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6B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04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7259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30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AB8C2F32-928C-AD3B-82CA-A3EC2C655122}"/>
              </a:ext>
            </a:extLst>
          </p:cNvPr>
          <p:cNvSpPr txBox="1">
            <a:spLocks/>
          </p:cNvSpPr>
          <p:nvPr/>
        </p:nvSpPr>
        <p:spPr>
          <a:xfrm>
            <a:off x="662400" y="3840480"/>
            <a:ext cx="6963200" cy="1737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cap="all" spc="50"/>
              <a:t>EthioEMR platform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FFFFFF"/>
                </a:solidFill>
                <a:latin typeface="Poppins Light"/>
              </a:rPr>
              <a:t>Team EMR, Form Studio and AI assistant in one place</a:t>
            </a:r>
          </a:p>
        </p:txBody>
      </p:sp>
    </p:spTree>
    <p:extLst>
      <p:ext uri="{BB962C8B-B14F-4D97-AF65-F5344CB8AC3E}">
        <p14:creationId xmlns:p14="http://schemas.microsoft.com/office/powerpoint/2010/main" val="387220097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CDD2"/>
                </a:solidFill>
                <a:latin typeface="Poppins Light"/>
                <a:ea typeface="Poppins Light"/>
                <a:cs typeface="Poppins Light"/>
              </a:rPr>
              <a:t>What we built on top of the team's EMR, how it fits together, and what comes next.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402336" cy="3895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0" y="86868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8686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The problem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673352"/>
            <a:ext cx="6217920" cy="0"/>
          </a:xfrm>
          <a:prstGeom prst="line">
            <a:avLst/>
          </a:prstGeom>
          <a:ln w="9525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37760" y="173736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373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What the platform 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2542032"/>
            <a:ext cx="6217920" cy="0"/>
          </a:xfrm>
          <a:prstGeom prst="line">
            <a:avLst/>
          </a:prstGeom>
          <a:ln w="9525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37760" y="2606039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06039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Architecture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7760" y="3410711"/>
            <a:ext cx="6217920" cy="0"/>
          </a:xfrm>
          <a:prstGeom prst="line">
            <a:avLst/>
          </a:prstGeom>
          <a:ln w="9525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37760" y="347472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474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Form Studio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4279392"/>
            <a:ext cx="6217920" cy="0"/>
          </a:xfrm>
          <a:prstGeom prst="line">
            <a:avLst/>
          </a:prstGeom>
          <a:ln w="9525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37760" y="434340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AI assistant and speech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0" y="5148072"/>
            <a:ext cx="6217920" cy="0"/>
          </a:xfrm>
          <a:prstGeom prst="line">
            <a:avLst/>
          </a:prstGeom>
          <a:ln w="9525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0" y="521208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2120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What comes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THE PROBLEM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042152-699B-6C1B-0057-57B9000F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6928" y="969264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402336" cy="389534"/>
          </a:xfrm>
          <a:prstGeom prst="rect">
            <a:avLst/>
          </a:prstGeom>
        </p:spPr>
      </p:pic>
      <p:sp>
        <p:nvSpPr>
          <p:cNvPr id="50" name="Lead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Four things cost builders and clinicians time today.</a:t>
            </a:r>
          </a:p>
        </p:txBody>
      </p:sp>
      <p:sp>
        <p:nvSpPr>
          <p:cNvPr id="51" name="Page number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1828800"/>
            <a:ext cx="5349240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22959" y="2121408"/>
            <a:ext cx="384048" cy="384048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19" y="21031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Forms are slow to build and check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19" y="26517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Each form is converted from a Bahmni export or a paper template, then checked by hand. A form saves only when every concept it uses exists on the server with the right type.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199" y="1828800"/>
            <a:ext cx="5349240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446519" y="2121408"/>
            <a:ext cx="384048" cy="384048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79" y="21031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Clinicians type a lot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79" y="26517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Complaints, findings and form fields are typed during the visit, one field at a time.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114800"/>
            <a:ext cx="5349240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822959" y="4407408"/>
            <a:ext cx="384048" cy="384048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19" y="43891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Amharic dictation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17319" y="49377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Doctors speak Amharic mixed with English terms. General models fail on it: Whisper large‑v3 gave 90% character errors on our Amharic test.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199" y="4114800"/>
            <a:ext cx="5349240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6446519" y="4407408"/>
            <a:ext cx="384048" cy="384048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79" y="43891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Help is scattered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79" y="49377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National guidelines, form guides and field meanings sit in separate PDFs and documents, outside the EMR.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WHAT THE PLATFORM IS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042152-699B-6C1B-0057-57B9000F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6928" y="969264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402336" cy="389534"/>
          </a:xfrm>
          <a:prstGeom prst="rect">
            <a:avLst/>
          </a:prstGeom>
        </p:spPr>
      </p:pic>
      <p:sp>
        <p:nvSpPr>
          <p:cNvPr id="50" name="Lead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One stack: the team's EMR exactly as on GitHub main, with our modules on top.</a:t>
            </a:r>
          </a:p>
        </p:txBody>
      </p:sp>
      <p:sp>
        <p:nvSpPr>
          <p:cNvPr id="51" name="Page number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182880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9147129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team distro main, unchanged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24612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54 + 2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931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team apps plus our two modules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66344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349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command to start: platform.ps1 up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4206240" y="1828800"/>
          <a:ext cx="740664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3520440"/>
                <a:gridCol w="1371600"/>
              </a:tblGrid>
              <a:tr h="5029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Poppins"/>
                        </a:rPr>
                        <a:t>Part</a:t>
                      </a:r>
                    </a:p>
                  </a:txBody>
                  <a:tcPr marL="109728" anchor="ctr">
                    <a:solidFill>
                      <a:srgbClr val="1011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Poppins"/>
                        </a:rPr>
                        <a:t>What it is</a:t>
                      </a:r>
                    </a:p>
                  </a:txBody>
                  <a:tcPr marL="109728" anchor="ctr">
                    <a:solidFill>
                      <a:srgbClr val="1011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Poppins"/>
                        </a:rPr>
                        <a:t>Owner</a:t>
                      </a:r>
                    </a:p>
                  </a:txBody>
                  <a:tcPr marL="109728" anchor="ctr">
                    <a:solidFill>
                      <a:srgbClr val="1011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distro/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team images sha-9147129, MySQL 8.0.45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distro team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content/</a:t>
                      </a:r>
                    </a:p>
                  </a:txBody>
                  <a:tcPr marL="10972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Initializer config: forms, concepts</a:t>
                      </a:r>
                    </a:p>
                  </a:txBody>
                  <a:tcPr marL="10972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content team</a:t>
                      </a:r>
                    </a:p>
                  </a:txBody>
                  <a:tcPr marL="109728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gateway/, compose overlay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one entry point on :18200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1B6E3D"/>
                          </a:solidFill>
                          <a:latin typeface="Poppins Light"/>
                        </a:rPr>
                        <a:t>us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modules/</a:t>
                      </a:r>
                    </a:p>
                  </a:txBody>
                  <a:tcPr marL="10972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Form Studio and AI assistant</a:t>
                      </a:r>
                    </a:p>
                  </a:txBody>
                  <a:tcPr marL="10972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1B6E3D"/>
                          </a:solidFill>
                          <a:latin typeface="Poppins Light"/>
                        </a:rPr>
                        <a:t>us</a:t>
                      </a:r>
                    </a:p>
                  </a:txBody>
                  <a:tcPr marL="109728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services/asr-service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374151"/>
                          </a:solidFill>
                          <a:latin typeface="Poppins Light"/>
                        </a:rPr>
                        <a:t>local speech-to-text, port 8767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1B6E3D"/>
                          </a:solidFill>
                          <a:latin typeface="Poppins Light"/>
                        </a:rPr>
                        <a:t>us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4206240" y="5166360"/>
            <a:ext cx="7406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Open it at </a:t>
            </a:r>
            <a:r>
              <a:rPr sz="14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localhost:18200/openmrs/spa</a:t>
            </a:r>
            <a:r>
              <a:rPr sz="14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. When our modules are published to npm, each becomes one line in the team's distro and the overlay is no longer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ARCHITECTURE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042152-699B-6C1B-0057-57B9000F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6928" y="969264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402336" cy="389534"/>
          </a:xfrm>
          <a:prstGeom prst="rect">
            <a:avLst/>
          </a:prstGeom>
        </p:spPr>
      </p:pic>
      <p:sp>
        <p:nvSpPr>
          <p:cNvPr id="50" name="Lead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The browser talks to one gateway. Grey is the team's, black is ours, orange is the remote AI service.</a:t>
            </a:r>
          </a:p>
        </p:txBody>
      </p:sp>
      <p:sp>
        <p:nvSpPr>
          <p:cNvPr id="51" name="Page number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05</a:t>
            </a:r>
          </a:p>
        </p:txBody>
      </p:sp>
      <p:pic>
        <p:nvPicPr>
          <p:cNvPr id="52" name="Picture 51" descr="arch-no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0"/>
            <a:ext cx="8788652" cy="48006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474452" y="1828800"/>
            <a:ext cx="21841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Team images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74452" y="2212848"/>
            <a:ext cx="218414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Frontend and backend images at sha‑9147129. MySQL 8.0.45 with the v8 dump and ICD‑11.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4452" y="3291840"/>
            <a:ext cx="21841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Our gateway template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74452" y="3675888"/>
            <a:ext cx="218414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Adds our modules and the AI config from .env. The API key is not in git.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74452" y="4754880"/>
            <a:ext cx="21841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Two outside calls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74452" y="5138928"/>
            <a:ext cx="218414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Speech stays on this machine. AI questions go to Bini's service over HTTPS.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FORM STUDIO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042152-699B-6C1B-0057-57B9000F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6928" y="969264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402336" cy="389534"/>
          </a:xfrm>
          <a:prstGeom prst="rect">
            <a:avLst/>
          </a:prstGeom>
        </p:spPr>
      </p:pic>
      <p:sp>
        <p:nvSpPr>
          <p:cNvPr id="50" name="Lead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An authoring module inside the EMR. It turns a source document into a checked O3 form.</a:t>
            </a:r>
          </a:p>
        </p:txBody>
      </p:sp>
      <p:sp>
        <p:nvSpPr>
          <p:cNvPr id="51" name="Page number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" y="1764792"/>
            <a:ext cx="15361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Import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240280"/>
            <a:ext cx="1993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Bahmni export, Excel template or from scratch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249424" y="1965960"/>
            <a:ext cx="475488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816352" y="1783080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1764792"/>
            <a:ext cx="15361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Edit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16352" y="2240280"/>
            <a:ext cx="1993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preview and edit, interactive builder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17136" y="1965960"/>
            <a:ext cx="475488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084064" y="1783080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9552" y="1764792"/>
            <a:ext cx="15361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Rules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84064" y="2240280"/>
            <a:ext cx="1993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show or hide, warnings, calculated values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84848" y="1965960"/>
            <a:ext cx="475488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7351775" y="1783080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27263" y="1764792"/>
            <a:ext cx="15361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Check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51775" y="2240280"/>
            <a:ext cx="1993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errors, warnings, concepts on the server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052559" y="1965960"/>
            <a:ext cx="475488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619488" y="1783080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94976" y="1764792"/>
            <a:ext cx="15361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Export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19488" y="2240280"/>
            <a:ext cx="1993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content files for the content repository</a:t>
            </a:r>
          </a:p>
        </p:txBody>
      </p:sp>
      <p:pic>
        <p:nvPicPr>
          <p:cNvPr id="71" name="Picture 70" descr="01-form-studio-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5283200" cy="2971800"/>
          </a:xfrm>
          <a:prstGeom prst="rect">
            <a:avLst/>
          </a:prstGeom>
          <a:ln w="9525">
            <a:solidFill>
              <a:srgbClr val="C9CDD2"/>
            </a:solidFill>
          </a:ln>
        </p:spPr>
      </p:pic>
      <p:pic>
        <p:nvPicPr>
          <p:cNvPr id="72" name="Picture 71" descr="03-form-studio-e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159" y="3108960"/>
            <a:ext cx="5283200" cy="2971800"/>
          </a:xfrm>
          <a:prstGeom prst="rect">
            <a:avLst/>
          </a:prstGeom>
          <a:ln w="9525">
            <a:solidFill>
              <a:srgbClr val="C9CDD2"/>
            </a:solidFill>
          </a:ln>
        </p:spPr>
      </p:pic>
      <p:sp>
        <p:nvSpPr>
          <p:cNvPr id="73" name="TextBox 72"/>
          <p:cNvSpPr txBox="1"/>
          <p:nvPr/>
        </p:nvSpPr>
        <p:spPr>
          <a:xfrm>
            <a:off x="548640" y="61447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Start page with 300 forms, and the editor with Check showing 0 errors. For test instances only: forms reach facilities through the content repository.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AI ASSISTANT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042152-699B-6C1B-0057-57B9000F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6928" y="969264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402336" cy="389534"/>
          </a:xfrm>
          <a:prstGeom prst="rect">
            <a:avLst/>
          </a:prstGeom>
        </p:spPr>
      </p:pic>
      <p:sp>
        <p:nvSpPr>
          <p:cNvPr id="50" name="Lead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A panel on every EMR page, opened with Alt+A. Four tools.</a:t>
            </a:r>
          </a:p>
        </p:txBody>
      </p:sp>
      <p:sp>
        <p:nvSpPr>
          <p:cNvPr id="51" name="Page number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17830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Help &amp; 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214884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Finds forms, fields and guides. Ask answers from the results and shows its sources.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2724911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2679191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Form Filler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3044951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Type or speak values; it fills one field at a time or the whole form.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621024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35753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Diagnosis assistant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3941064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A differential from the complaint and this patient's chart, with the records it relied on.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517136"/>
            <a:ext cx="365760" cy="365760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447141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Speak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4837176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Dictate in Amharic or English. The local speech service writes it out.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440680"/>
            <a:ext cx="64008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77240" y="5513832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RAG: </a:t>
            </a: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the service retrieves guideline passages, answers only from them and cites them. 14 guideline files, 10,713 passages, model qwen2.5:14b.</a:t>
            </a:r>
          </a:p>
        </p:txBody>
      </p:sp>
      <p:pic>
        <p:nvPicPr>
          <p:cNvPr id="66" name="Picture 65" descr="07-ai-help-answer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91640"/>
            <a:ext cx="3226406" cy="4617720"/>
          </a:xfrm>
          <a:prstGeom prst="rect">
            <a:avLst/>
          </a:prstGeom>
          <a:ln w="9525">
            <a:solidFill>
              <a:srgbClr val="C9CDD2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SPEECH PIPELINE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042152-699B-6C1B-0057-57B9000F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6928" y="969264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402336" cy="389534"/>
          </a:xfrm>
          <a:prstGeom prst="rect">
            <a:avLst/>
          </a:prstGeom>
        </p:spPr>
      </p:pic>
      <p:sp>
        <p:nvSpPr>
          <p:cNvPr id="50" name="Lead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Speak runs on our machine. Audio never leaves it, and no LLM touches the text.</a:t>
            </a:r>
          </a:p>
        </p:txBody>
      </p:sp>
      <p:sp>
        <p:nvSpPr>
          <p:cNvPr id="51" name="Page number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08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26974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31520" y="28346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Recording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32004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WAV from the Speak button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6120" y="1828800"/>
            <a:ext cx="3017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429000" y="1965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Amharic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2331720"/>
            <a:ext cx="265176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wav2vec2 Amharic. Writes English terms in Amharic letters.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46120" y="3429000"/>
            <a:ext cx="3017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429000" y="3566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English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3931920"/>
            <a:ext cx="265176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Whisper large-v3-turbo, confirmed by Whisper small.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26974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040880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Merge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0" y="32004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word by word, by timing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269748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829800" y="2834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Text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320040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into the field or form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2651760" y="2487168"/>
            <a:ext cx="594360" cy="804672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651760" y="3291840"/>
            <a:ext cx="594360" cy="795528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263640" y="2487168"/>
            <a:ext cx="594360" cy="804672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263640" y="3291840"/>
            <a:ext cx="594360" cy="795528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052560" y="3291840"/>
            <a:ext cx="59436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48640" y="50749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An English word replaces the Amharic only if: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44068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1  Whisper is reasonably sure</a:t>
            </a:r>
          </a:p>
          <a:p>
            <a:pPr algn="l"/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2  it sounds like what the Amharic engine heard</a:t>
            </a:r>
          </a:p>
          <a:p>
            <a:pPr algn="l"/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3  it is in the EMR vocabulary (28k concept and drug words)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074920"/>
            <a:ext cx="4800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Results on our 15 s test: </a:t>
            </a: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wav2vec2 Amharic 9% character errors; Whisper large-v3 alone 90%. Every output word comes from one of the two engines.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WHAT COMES NEXT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042152-699B-6C1B-0057-57B9000F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6928" y="969264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47472"/>
            <a:ext cx="402336" cy="389534"/>
          </a:xfrm>
          <a:prstGeom prst="rect">
            <a:avLst/>
          </a:prstGeom>
        </p:spPr>
      </p:pic>
      <p:sp>
        <p:nvSpPr>
          <p:cNvPr id="50" name="Lead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AI help inside Form Studio. Not built yet: it needs Bini's /v1/forms endpoints.</a:t>
            </a:r>
          </a:p>
        </p:txBody>
      </p:sp>
      <p:sp>
        <p:nvSpPr>
          <p:cNvPr id="51" name="Page number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Poppins Light"/>
                <a:ea typeface="Poppins Light"/>
                <a:cs typeface="Poppins Light"/>
              </a:rPr>
              <a:t>09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1783080"/>
            <a:ext cx="3520440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22959" y="2057400"/>
            <a:ext cx="384048" cy="384048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59" y="26060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Explain errors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59" y="306324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When Check finds a problem, the AI explains it in plain words and points to the rule.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1783080"/>
            <a:ext cx="3520440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617720" y="2057400"/>
            <a:ext cx="384048" cy="384048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26060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Draft rules and form JSON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17720" y="306324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The AI drafts. Our Check verifies each draft before it is accepted.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1783080"/>
            <a:ext cx="3520440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8412480" y="2057400"/>
            <a:ext cx="384048" cy="384048"/>
          </a:xfrm>
          <a:prstGeom prst="rect">
            <a:avLst/>
          </a:prstGeom>
          <a:solidFill>
            <a:srgbClr val="1B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26060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Knowledge from our work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306324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A knowledge pack of 13,470 records: form docs, lessons, our forms, plus O3 docs.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6E3D"/>
                </a:solidFill>
                <a:latin typeface="Poppins"/>
                <a:ea typeface="Poppins"/>
                <a:cs typeface="Poppins"/>
              </a:rPr>
              <a:t>Who does what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6A2A"/>
                </a:solidFill>
                <a:latin typeface="Poppins"/>
                <a:ea typeface="Poppins"/>
                <a:cs typeface="Poppins"/>
              </a:rPr>
              <a:t>Bini: </a:t>
            </a: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/v1/forms/* endpoints (ask, suggest-concepts, explain-rule, draft-rule, review) and knowledge-pack ingest.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3035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Us: </a:t>
            </a: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the pack builder, an Ask button in the editor, and Check on anything the user accepts.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Not decided: </a:t>
            </a: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dates for either 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C874A42-E1CB-4A4A-801C-3D92F96A0B77}"/>
              </a:ext>
            </a:extLst>
          </p:cNvPr>
          <p:cNvSpPr/>
          <p:nvPr/>
        </p:nvSpPr>
        <p:spPr>
          <a:xfrm>
            <a:off x="7578823" y="618458"/>
            <a:ext cx="3810029" cy="3810007"/>
          </a:xfrm>
          <a:custGeom>
            <a:avLst/>
            <a:gdLst>
              <a:gd name="connsiteX0" fmla="*/ 1905029 w 3810029"/>
              <a:gd name="connsiteY0" fmla="*/ 3809262 h 3810007"/>
              <a:gd name="connsiteX1" fmla="*/ 0 w 3810029"/>
              <a:gd name="connsiteY1" fmla="*/ 1904261 h 3810007"/>
              <a:gd name="connsiteX2" fmla="*/ 1904981 w 3810029"/>
              <a:gd name="connsiteY2" fmla="*/ -739 h 3810007"/>
              <a:gd name="connsiteX3" fmla="*/ 3810029 w 3810029"/>
              <a:gd name="connsiteY3" fmla="*/ 1904261 h 3810007"/>
              <a:gd name="connsiteX4" fmla="*/ 3252054 w 3810029"/>
              <a:gd name="connsiteY4" fmla="*/ 3251287 h 3810007"/>
              <a:gd name="connsiteX5" fmla="*/ 1905029 w 3810029"/>
              <a:gd name="connsiteY5" fmla="*/ 3809262 h 38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10029" h="3810007">
                <a:moveTo>
                  <a:pt x="1905029" y="3809262"/>
                </a:moveTo>
                <a:cubicBezTo>
                  <a:pt x="852926" y="3809262"/>
                  <a:pt x="19" y="2956393"/>
                  <a:pt x="0" y="1904261"/>
                </a:cubicBezTo>
                <a:cubicBezTo>
                  <a:pt x="-9" y="852187"/>
                  <a:pt x="852878" y="-720"/>
                  <a:pt x="1904981" y="-739"/>
                </a:cubicBezTo>
                <a:cubicBezTo>
                  <a:pt x="2957065" y="-748"/>
                  <a:pt x="3810029" y="852130"/>
                  <a:pt x="3810029" y="1904261"/>
                </a:cubicBezTo>
                <a:cubicBezTo>
                  <a:pt x="3810029" y="2409467"/>
                  <a:pt x="3609337" y="2894004"/>
                  <a:pt x="3252054" y="3251287"/>
                </a:cubicBezTo>
                <a:cubicBezTo>
                  <a:pt x="2895534" y="3609712"/>
                  <a:pt x="2410520" y="3810594"/>
                  <a:pt x="1905029" y="3809262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EE7AD84-148F-4907-A10C-F52E68D7B3A2}"/>
              </a:ext>
            </a:extLst>
          </p:cNvPr>
          <p:cNvGrpSpPr/>
          <p:nvPr/>
        </p:nvGrpSpPr>
        <p:grpSpPr>
          <a:xfrm>
            <a:off x="617124" y="923068"/>
            <a:ext cx="2927843" cy="465391"/>
            <a:chOff x="617124" y="923068"/>
            <a:chExt cx="2927843" cy="46539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5044252-6B58-4F2A-8DDF-18F67137FF03}"/>
                </a:ext>
              </a:extLst>
            </p:cNvPr>
            <p:cNvSpPr/>
            <p:nvPr/>
          </p:nvSpPr>
          <p:spPr>
            <a:xfrm>
              <a:off x="617124" y="923068"/>
              <a:ext cx="2868358" cy="465391"/>
            </a:xfrm>
            <a:custGeom>
              <a:avLst/>
              <a:gdLst>
                <a:gd name="connsiteX0" fmla="*/ 0 w 2868358"/>
                <a:gd name="connsiteY0" fmla="*/ 464653 h 465391"/>
                <a:gd name="connsiteX1" fmla="*/ 2658809 w 2868358"/>
                <a:gd name="connsiteY1" fmla="*/ 464653 h 465391"/>
                <a:gd name="connsiteX2" fmla="*/ 2868359 w 2868358"/>
                <a:gd name="connsiteY2" fmla="*/ 255102 h 465391"/>
                <a:gd name="connsiteX3" fmla="*/ 2868359 w 2868358"/>
                <a:gd name="connsiteY3" fmla="*/ -739 h 465391"/>
                <a:gd name="connsiteX4" fmla="*/ 209550 w 2868358"/>
                <a:gd name="connsiteY4" fmla="*/ -739 h 465391"/>
                <a:gd name="connsiteX5" fmla="*/ 0 w 2868358"/>
                <a:gd name="connsiteY5" fmla="*/ 208811 h 46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8358" h="465391">
                  <a:moveTo>
                    <a:pt x="0" y="464653"/>
                  </a:moveTo>
                  <a:lnTo>
                    <a:pt x="2658809" y="464653"/>
                  </a:lnTo>
                  <a:cubicBezTo>
                    <a:pt x="2774537" y="464653"/>
                    <a:pt x="2868359" y="370831"/>
                    <a:pt x="2868359" y="255102"/>
                  </a:cubicBezTo>
                  <a:lnTo>
                    <a:pt x="2868359" y="-739"/>
                  </a:lnTo>
                  <a:lnTo>
                    <a:pt x="209550" y="-739"/>
                  </a:lnTo>
                  <a:cubicBezTo>
                    <a:pt x="93818" y="-739"/>
                    <a:pt x="0" y="93082"/>
                    <a:pt x="0" y="20881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BB50CD-D7F5-451E-A470-5462D453EB62}"/>
                </a:ext>
              </a:extLst>
            </p:cNvPr>
            <p:cNvSpPr txBox="1"/>
            <p:nvPr/>
          </p:nvSpPr>
          <p:spPr>
            <a:xfrm>
              <a:off x="660844" y="982639"/>
              <a:ext cx="2884123" cy="346249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lIns="91440" tIns="45720" rIns="91440" bIns="45720" rtlCol="0" anchor="t">
              <a:spAutoFit/>
            </a:bodyPr>
            <a:lstStyle/>
            <a:p>
              <a:pPr algn="l"/>
              <a:r>
                <a:rPr lang="en-US" sz="1600" b="1" spc="0" baseline="0">
                  <a:solidFill>
                    <a:srgbClr val="FFFFFF"/>
                  </a:solidFill>
                  <a:latin typeface="Montserrat"/>
                  <a:sym typeface="Montserrat"/>
                  <a:rtl val="0"/>
                </a:rPr>
                <a:t>Questions &amp; Discussions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5D8BE47-C52D-46A0-8B36-A9BCAC0802D2}"/>
              </a:ext>
            </a:extLst>
          </p:cNvPr>
          <p:cNvSpPr txBox="1"/>
          <p:nvPr/>
        </p:nvSpPr>
        <p:spPr>
          <a:xfrm>
            <a:off x="523303" y="1578483"/>
            <a:ext cx="6077305" cy="160043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4900" baseline="0">
                <a:latin typeface="Poppins"/>
                <a:cs typeface="Poppins"/>
                <a:sym typeface="Montserrat"/>
              </a:rPr>
              <a:t>Thank you</a:t>
            </a:r>
            <a:endParaRPr lang="en-US" sz="4900" baseline="0">
              <a:latin typeface="Poppins"/>
              <a:cs typeface="Poppin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C1A07F9-1024-4716-844E-191AE16BFF27}"/>
              </a:ext>
            </a:extLst>
          </p:cNvPr>
          <p:cNvSpPr txBox="1"/>
          <p:nvPr/>
        </p:nvSpPr>
        <p:spPr>
          <a:xfrm>
            <a:off x="506197" y="3121194"/>
            <a:ext cx="6732804" cy="6587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2300"/>
              </a:lnSpc>
            </a:pPr>
            <a:r>
              <a:rPr lang="en-US" sz="1450">
                <a:solidFill>
                  <a:schemeClr val="bg2">
                    <a:lumMod val="25000"/>
                  </a:schemeClr>
                </a:solidFill>
                <a:latin typeface="Poppins Light"/>
                <a:cs typeface="Poppins"/>
                <a:sym typeface="Poppins"/>
              </a:rPr>
              <a:t>One stack, team main unchanged, our work on top. Questions and comments are welcome.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491D7ABB-99DB-1FB2-BA98-0C61ED4004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" r="24"/>
          <a:stretch/>
        </p:blipFill>
        <p:spPr>
          <a:custGeom>
            <a:avLst/>
            <a:gdLst>
              <a:gd name="connsiteX0" fmla="*/ 1621250 w 3242501"/>
              <a:gd name="connsiteY0" fmla="*/ 0 h 3242500"/>
              <a:gd name="connsiteX1" fmla="*/ 3242501 w 3242501"/>
              <a:gd name="connsiteY1" fmla="*/ 1621250 h 3242500"/>
              <a:gd name="connsiteX2" fmla="*/ 1621250 w 3242501"/>
              <a:gd name="connsiteY2" fmla="*/ 3242500 h 3242500"/>
              <a:gd name="connsiteX3" fmla="*/ 0 w 3242501"/>
              <a:gd name="connsiteY3" fmla="*/ 1621250 h 3242500"/>
              <a:gd name="connsiteX4" fmla="*/ 1621250 w 3242501"/>
              <a:gd name="connsiteY4" fmla="*/ 0 h 324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42501" h="3242500">
                <a:moveTo>
                  <a:pt x="1621250" y="0"/>
                </a:moveTo>
                <a:cubicBezTo>
                  <a:pt x="2516642" y="0"/>
                  <a:pt x="3242501" y="725858"/>
                  <a:pt x="3242501" y="1621250"/>
                </a:cubicBezTo>
                <a:cubicBezTo>
                  <a:pt x="3242501" y="2516642"/>
                  <a:pt x="2516643" y="3242500"/>
                  <a:pt x="1621250" y="3242500"/>
                </a:cubicBezTo>
                <a:cubicBezTo>
                  <a:pt x="725858" y="3242500"/>
                  <a:pt x="0" y="2516642"/>
                  <a:pt x="0" y="1621250"/>
                </a:cubicBezTo>
                <a:cubicBezTo>
                  <a:pt x="0" y="725858"/>
                  <a:pt x="725858" y="0"/>
                  <a:pt x="1621250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6" name="Slide Number Placeholder 303">
            <a:extLst>
              <a:ext uri="{FF2B5EF4-FFF2-40B4-BE49-F238E27FC236}">
                <a16:creationId xmlns:a16="http://schemas.microsoft.com/office/drawing/2014/main" id="{5A85FA61-8B16-58DD-5628-BCF2179677DE}"/>
              </a:ext>
            </a:extLst>
          </p:cNvPr>
          <p:cNvSpPr txBox="1">
            <a:spLocks/>
          </p:cNvSpPr>
          <p:nvPr/>
        </p:nvSpPr>
        <p:spPr>
          <a:xfrm>
            <a:off x="10931021" y="6491293"/>
            <a:ext cx="914400" cy="36512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B975A5-EA91-314B-AF62-F6E264554D2F}" type="slidenum">
              <a:rPr lang="en-US" sz="1200" smtClean="0"/>
              <a:pPr/>
              <a:t>7</a:t>
            </a:fld>
            <a:endParaRPr lang="en-US" sz="1200"/>
          </a:p>
        </p:txBody>
      </p:sp>
      <p:sp>
        <p:nvSpPr>
          <p:cNvPr id="90" name="TextBox 89"/>
          <p:cNvSpPr txBox="1"/>
          <p:nvPr/>
        </p:nvSpPr>
        <p:spPr>
          <a:xfrm>
            <a:off x="594360" y="3977639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Open: </a:t>
            </a: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localhost:18200/openmrs/spa</a:t>
            </a:r>
          </a:p>
          <a:p>
            <a:pPr algn="l"/>
            <a:r>
              <a:rPr sz="1300" b="1">
                <a:solidFill>
                  <a:srgbClr val="101113"/>
                </a:solidFill>
                <a:latin typeface="Poppins"/>
                <a:ea typeface="Poppins"/>
                <a:cs typeface="Poppins"/>
              </a:rPr>
              <a:t>Docs: </a:t>
            </a:r>
            <a:r>
              <a:rPr sz="1300" b="0">
                <a:solidFill>
                  <a:srgbClr val="374151"/>
                </a:solidFill>
                <a:latin typeface="Poppins Light"/>
                <a:ea typeface="Poppins Light"/>
                <a:cs typeface="Poppins Light"/>
              </a:rPr>
              <a:t>docs/platform/ in the ethioemr-platform repo</a:t>
            </a:r>
          </a:p>
        </p:txBody>
      </p:sp>
    </p:spTree>
    <p:extLst>
      <p:ext uri="{BB962C8B-B14F-4D97-AF65-F5344CB8AC3E}">
        <p14:creationId xmlns:p14="http://schemas.microsoft.com/office/powerpoint/2010/main" val="243908493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Where did this come from?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EthioEMR platform</dc:title>
  <dc:creator/>
  <cp:revision>18</cp:revision>
  <dcterms:created xsi:type="dcterms:W3CDTF">2025-12-19T12:33:46Z</dcterms:created>
  <dcterms:modified xsi:type="dcterms:W3CDTF">2026-09-22T10:08:29Z</dcterms:modified>
</cp:coreProperties>
</file>